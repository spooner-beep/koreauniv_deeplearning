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72768"/>
            <a:ext cx="7589520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최종 CustomCNN
성능 향상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772400" cy="4023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0">
                <a:solidFill>
                  <a:srgbClr val="AACCEE"/>
                </a:solidFill>
                <a:latin typeface="Malgun Gothic"/>
              </a:rPr>
              <a:t>Initial CustomCNN vs Final CustomCNN tuned_v4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669280" cy="36576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43984"/>
            <a:ext cx="77724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Best Val Acc: 37.4% → 54.5%  (+17.1%p)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98755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777788"/>
                </a:solidFill>
                <a:latin typeface="Malgun Gothic"/>
              </a:rPr>
              <a:t>최종 모델은 CustomCNN 구조/파라미터만 저장되며, ResNet18은 학습 단계의 teacher로만 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I. 핵심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최초 대비 최종 CustomCNN 성능 향상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0744"/>
            <a:ext cx="27432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777788"/>
                </a:solidFill>
                <a:latin typeface="Malgun Gothic"/>
              </a:rPr>
              <a:t>37.4%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56232"/>
            <a:ext cx="259689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최초 CustomCNN Val Acc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2344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80744"/>
            <a:ext cx="27432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F8A5B"/>
                </a:solidFill>
                <a:latin typeface="Malgun Gothic"/>
              </a:rPr>
              <a:t>54.5%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2"/>
            <a:ext cx="259689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최종 CustomCNN Val 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344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80744"/>
            <a:ext cx="27432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A72A8"/>
                </a:solidFill>
                <a:latin typeface="Malgun Gothic"/>
              </a:rPr>
              <a:t>+17.1%p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856232"/>
            <a:ext cx="259689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CustomCNN 내부 개선 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5480" y="1234440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380744"/>
            <a:ext cx="214884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C76A00"/>
                </a:solidFill>
                <a:latin typeface="Malgun Gothic"/>
              </a:rPr>
              <a:t>-12.5%p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1856232"/>
            <a:ext cx="200253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ResNet18 대비 차이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78892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28800"/>
                <a:gridCol w="2057400"/>
                <a:gridCol w="5029200"/>
              </a:tblGrid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Best Val Acc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파라미터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학습/구조 특징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최초 CustomCNN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37.4%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523,012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ConvBlock x4, Adam, 정규화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최종 CustomCNN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54.5%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9,999,620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modern_v4, SE, EMA, Mixup, Distillation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ResNet18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67.0%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11,178,564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ImageNet pretrained, 2-stage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02920" y="5074920"/>
            <a:ext cx="11155680" cy="777240"/>
          </a:xfrm>
          <a:prstGeom prst="rect">
            <a:avLst/>
          </a:prstGeom>
          <a:solidFill>
            <a:srgbClr val="E8F2FC"/>
          </a:solidFill>
          <a:ln w="1270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39512"/>
            <a:ext cx="1078992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0">
                <a:solidFill>
                  <a:srgbClr val="16213E"/>
                </a:solidFill>
                <a:latin typeface="Malgun Gothic"/>
              </a:rPr>
              <a:t>해석: 최종 CustomCNN은 최초 대비 큰 폭으로 개선되었지만, ImageNet 사전학습을 사용한 ResNet18의 일반 시각 특징 격차는 아직 완전히 극복하지 못했습니다.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II. 최초 CustomCNN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초기 모델이 낮은 성능에 머문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47472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29183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1. 표현력 부족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64792"/>
            <a:ext cx="3182112" cy="12344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ConvBlock x4, 32→256 채널
• Residual 연결 없음
• Attention 없음
• 깊은 계층 특징 학습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47472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3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2. 정보 손실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764792"/>
            <a:ext cx="3182112" cy="12344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각 블록마다 MaxPool 사용
• 초기 단계에서 공간 정보가 빠르게 축소
• 패션 실루엣/패턴의 미세 차이 보존 어려움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3474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280160"/>
            <a:ext cx="329183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3. 학습 안정성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1764792"/>
            <a:ext cx="3182112" cy="123443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Adam lr=1e-3
• weight decay=1e-4
• EMA / gradient clipping 없음
• epoch 9 이후 과적합 관찰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3657600"/>
          <a:ext cx="1051559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955279"/>
              </a:tblGrid>
              <a:tr h="429768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최초 CustomCNN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9768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Conv → BN → ReLU → MaxPool 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AvgPool → Linear(256→512) → Dropout(0.5) → Linear(512→4)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파라미터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523,012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Best Val Acc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1000" b="0">
                          <a:solidFill>
                            <a:srgbClr val="222233"/>
                          </a:solidFill>
                          <a:latin typeface="Malgun Gothic"/>
                        </a:rPr>
                        <a:t>37.4%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III. 변경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최초 CustomCNN에서 최종 CustomCNN으로 바뀐 전체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00" b="0">
                <a:solidFill>
                  <a:srgbClr val="222233"/>
                </a:solidFill>
                <a:latin typeface="Malgun Gothic"/>
              </a:rPr>
              <a:t>최종 모델은 단순 ConvNet을 더 깊고 안정적인 feature extractor로 바꾸고, 학습 전략도 일반화 중심으로 재설계했습니다.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691640"/>
          <a:ext cx="113842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2377440"/>
                <a:gridCol w="5349240"/>
              </a:tblGrid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최초 CustomCNN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최종 CustomCNN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변경 목적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모델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ConvBlock x4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modern_v4 residual + 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얕은 표현력을 보완하고 깊은 특징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파라미터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0.52M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10.00M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시대별 색감/실루엣/패턴 표현 용량 확대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Downsampling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MaxPool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Stride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정보를 버리는 축소에서 학습 가능한 축소로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Pooling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AvgPool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AvgPool + MaxPool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전체 스타일 경향과 강한 국소 패턴을 함께 사용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큰 모델에서 weight decay를 안정적으로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학습 보조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EMA / Mixup / Distillation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과적합 완화 및 soft target 기반 일반화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080760"/>
            <a:ext cx="10835640" cy="411480"/>
          </a:xfrm>
          <a:prstGeom prst="rect">
            <a:avLst/>
          </a:prstGeom>
          <a:solidFill>
            <a:srgbClr val="E8F2FC"/>
          </a:solidFill>
          <a:ln w="1270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61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>
                <a:solidFill>
                  <a:srgbClr val="16213E"/>
                </a:solidFill>
                <a:latin typeface="Malgun Gothic"/>
              </a:rPr>
              <a:t>핵심: 구조는 더 강하게, 학습은 더 부드럽게, 최종 저장 모델은 CustomCNN만 남도록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III. 변경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구조 변경 1: Feature Extractor를 강화한 이유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67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63240"/>
                <a:gridCol w="3246120"/>
                <a:gridCol w="3246120"/>
              </a:tblGrid>
              <a:tr h="98755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변경 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개념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변경 이유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98755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ConvBlock → ModernResidualBlock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입력 특징을 변환한 결과에 skip path를 더하는 잔차 블록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깊은 CNN에서 gradient 소실을 줄이고 더 많은 stage를 안정적으로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초기 4개 block 한계를 넘어 복합 패턴을 계층적으로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ReLU → SiLU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x·sigmoid(x) 형태의 부드러운 비선형 함수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ReLU보다 작은 음수 영역 정보가 완전히 죽지 않아 수렴이 부드러움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학습 loss 변동을 줄이고 feature 표현을 세밀화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8755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MaxPool → Stride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pooling 대신 convolution stride로 해상도 축소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MaxPool은 정보를 고정 규칙으로 버리지만 stride conv는 축소 방식을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패션 실루엣·패턴의 공간 정보를 더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Attention 없음 → 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채널별 중요도를 global context로 재가중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연도별 패션은 색감·질감·실루엣 채널의 상대적 중요도가 다름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시대 구분에 중요한 feature channel을 강조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III. 변경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구조 변경 2: Head, 파라미터, 표현 용량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0744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777788"/>
                </a:solidFill>
                <a:latin typeface="Malgun Gothic"/>
              </a:rPr>
              <a:t>0.52M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232257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최초 파라미터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344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80744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F8A5B"/>
                </a:solidFill>
                <a:latin typeface="Malgun Gothic"/>
              </a:rPr>
              <a:t>10.00M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56232"/>
            <a:ext cx="232257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최종 파라미터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0744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A72A8"/>
                </a:solidFill>
                <a:latin typeface="Malgun Gothic"/>
              </a:rPr>
              <a:t>19.1x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56232"/>
            <a:ext cx="232257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표현 용량 증가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23444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380744"/>
            <a:ext cx="24688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C76A00"/>
                </a:solidFill>
                <a:latin typeface="Malgun Gothic"/>
              </a:rPr>
              <a:t>11.18M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856232"/>
            <a:ext cx="2322576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ResNet18 파라미터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3464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48840"/>
                <a:gridCol w="2468880"/>
                <a:gridCol w="4709160"/>
              </a:tblGrid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최초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최종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변경 이유와 영향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(32, 64, 128, 256)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(48, 96, 192, 320, 512)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저수준 색/질감부터 고수준 실루엣까지 더 넓은 feature space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Blocks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ConvBlock x4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Stem x2 + stage별 residual blocks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단일 단계 feature 추출에서 계층적 feature hierarchy로 변경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Pooling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AvgPool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AvgPool + MaxPool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평균적 스타일과 강한 장식/패턴 feature를 동시에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Linear 256→512→4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Linear 1024→768→4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dual pooling으로 늘어난 feature를 충분히 조합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Parameter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작고 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크지만 ResNet18보다 약간 작음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과도한 대형화 없이 ResNet18에 가까운 표현 용량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5989320"/>
            <a:ext cx="1088136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주의: 파라미터 증가는 성능 향상의 필요조건일 뿐 충분조건은 아닙니다. 그래서 AdamW, EMA, Mixup, Distillation으로 일반화를 함께 보강했습니다.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III. 최종 CustomCNN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modern_v4 구조와 설계 의도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07008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6126480"/>
              </a:tblGrid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구성 요소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최종 구조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성능 향상 의도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Residual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ModernResidualBlock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깊어진 네트워크의 gradient 흐름 안정화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SE Attention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Squeeze-and-Excitation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색감·질감·실루엣 채널을 동적으로 강조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Downsampling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MaxPool 대신 stride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공간 정보 손실을 줄이고 특징 변환을 학습 가능하게 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Pooling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AvgPool + MaxPool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전체 평균 경향과 강한 국소 특징을 동시에 반영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SiLU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ReLU보다 부드러운 비선형성으로 수렴 안정화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343400"/>
            <a:ext cx="11155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462272"/>
            <a:ext cx="21945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A72A8"/>
                </a:solidFill>
                <a:latin typeface="Malgun Gothic"/>
              </a:rPr>
              <a:t>최종 구조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64608"/>
            <a:ext cx="1060704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0">
                <a:solidFill>
                  <a:srgbClr val="222233"/>
                </a:solidFill>
                <a:latin typeface="Malgun Gothic"/>
              </a:rPr>
              <a:t>Input → Stem Conv x2 → ModernResidual Stages (48, 96, 192, 320, 512) → Avg/Max Dual Pooling → Linear 768 →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IV. 학습 전략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학습 설정 변경의 개념, 이유, 영향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43000"/>
          <a:ext cx="115671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337560"/>
                <a:gridCol w="3474720"/>
              </a:tblGrid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개념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변경 이유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Adam → AdamW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weight decay를 gradient update와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큰 모델에서 L2 정규화를 안정적으로 적용하기 위함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과적합 억제, validation 안정화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lr 1e-3 → 3e-4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한 번에 이동하는 파라미터 업데이트 크기 감소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scratch CNN에서 큰 lr은 빠른 memorization/불안정 유발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수렴은 느려지지만 loss 폭주 위험 감소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Label smoothing 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정답 확률을 1.0이 아닌 약간 낮은 값으로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2010/2019처럼 경계가 모호한 클래스에서 과확신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인접 시대 간 일반화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Mixup 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두 이미지와 라벨을 섞어 학습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데이터 memorization을 줄이고 클래스 경계 부드럽게 만듦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Val Acc 상승, 단 train acc는 hard label 기준으로 해석 어려움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학습 중 weight의 이동평균 모델을 검증/저장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마지막 step의 노이즈가 아니라 안정된 평균 파라미터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검증 성능 변동 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Cosine schedule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학습률을 cosine 형태로 점진 감소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30 epoch 안에서 초반 탐색, 후반 미세 조정 수행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700" b="0">
                          <a:solidFill>
                            <a:srgbClr val="222233"/>
                          </a:solidFill>
                          <a:latin typeface="Malgun Gothic"/>
                        </a:rPr>
                        <a:t>후반부 Val Acc가 천천히 개선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IV. 학습 전략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ResNet18 Distillation을 사용한 이유와 최종 모델의 독립성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56616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64792"/>
            <a:ext cx="3273552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Teacher 모델(ResNet18)의 soft probability를 student(CustomCNN)가 함께 학습하는 방법입니다.
정답 label뿐 아니라 클래스 간 유사도 정보를 전달합니다.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344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356616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280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변경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64792"/>
            <a:ext cx="3273552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패션 시대 분류는 2010↔2019처럼 경계가 모호합니다.
Hard label만으로는 이런 유사성을 표현하기 어렵기 때문에 teacher의 분포 정보를 사용했습니다.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23444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234440"/>
            <a:ext cx="356616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280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영향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3273552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초기 CustomCNN 37.4%에서 최종 54.5%로 개선되었습니다.
다만 teacher보다 높은 67.05%까지는 도달하지 못했습니다.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10835640" cy="1051560"/>
          </a:xfrm>
          <a:prstGeom prst="rect">
            <a:avLst/>
          </a:prstGeom>
          <a:solidFill>
            <a:srgbClr val="E8F2FC"/>
          </a:solidFill>
          <a:ln w="1270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50208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16213E"/>
                </a:solidFill>
                <a:latin typeface="Malgun Gothic"/>
              </a:rPr>
              <a:t>최종 모델 독립성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52544"/>
            <a:ext cx="1024128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학습 중에는 ResNet18을 teacher로 참조하지만, 저장되는 best_custom.pth는 CustomCNN state_dict만 포함합니다. 실제 검증 결과 state_dict에 ResNet18 backbone 키가 없고, CustomCNN modern_v4 구조로 정상 로드됨을 확인했습니다.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920240" y="5166360"/>
          <a:ext cx="83210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114800"/>
              </a:tblGrid>
              <a:tr h="21031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확인 항목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1031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teacher_used_for_training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final_model_architecture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CustomCNN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1031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has_resnet_backbone in best_custom.pth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checkpoint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800" b="0">
                          <a:solidFill>
                            <a:srgbClr val="222233"/>
                          </a:solidFill>
                          <a:latin typeface="Malgun Gothic"/>
                        </a:rPr>
                        <a:t>CustomCNN modern_v4로 load 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IV. 학습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성능 향상을 만든 학습 방법들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432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56032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AdamW + Weight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673352"/>
            <a:ext cx="2450592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Adam보다 일반화에 유리한 decoupled weight decay
• weight_decay=0.03으로 과적합 억제
• lr=3e-4로 안정 수렴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43000"/>
            <a:ext cx="27432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188720"/>
            <a:ext cx="256032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Cosine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673352"/>
            <a:ext cx="2450592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30 epoch 안에서 학습률을 점진적으로 감소
• 후반부 Val Acc 미세 개선에 유리
• 과격한 OneCycle 대비 안정성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27432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188720"/>
            <a:ext cx="256032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673352"/>
            <a:ext cx="2450592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학습 중 가중치 이동평균 사용
• 검증 시 더 부드러운 모델로 평가
• BatchNorm buffer까지 동기화하도록 수정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4300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43200" cy="38404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188720"/>
            <a:ext cx="256032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Mixup + Label Smoothing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1673352"/>
            <a:ext cx="2450592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• mixup=0.1로 라벨 memorization 완화
• smoothing=0.05로 과확신 억제
• 인접 시대 간 모호성을 반영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703320"/>
            <a:ext cx="10972800" cy="1325880"/>
          </a:xfrm>
          <a:prstGeom prst="rect">
            <a:avLst/>
          </a:prstGeom>
          <a:solidFill>
            <a:srgbClr val="E8F2FC"/>
          </a:solidFill>
          <a:ln w="1270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67912"/>
            <a:ext cx="27432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>
                <a:solidFill>
                  <a:srgbClr val="16213E"/>
                </a:solidFill>
                <a:latin typeface="Malgun Gothic"/>
              </a:rPr>
              <a:t>Knowledge Distillation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104241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222233"/>
                </a:solidFill>
                <a:latin typeface="Malgun Gothic"/>
              </a:rPr>
              <a:t>ResNet18은 학습 중 teacher로만 사용했습니다. teacher의 soft target은 1990/2000/2010/2019 사이의 시각적 유사성을 전달합니다. 최종 저장 파일(best_custom.pth)은 CustomCNN state_dict만 포함하며 ResNet18 backbone은 포함하지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V. 학습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최종 CustomCNN Val Accuracy 추이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863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41832"/>
            <a:ext cx="78638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00" b="1">
                <a:solidFill>
                  <a:srgbClr val="16213E"/>
                </a:solidFill>
                <a:latin typeface="Malgun Gothic"/>
              </a:rPr>
              <a:t>Validation Accuracy by Epoch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357187"/>
            <a:ext cx="570128" cy="239769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064579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43.1%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4539" y="2202209"/>
            <a:ext cx="570128" cy="2552670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8819" y="1909601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45.8%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8819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990411"/>
            <a:ext cx="570128" cy="276446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697803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49.6%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0500" y="1865693"/>
            <a:ext cx="570128" cy="2889186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4780" y="1573085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51.9%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4780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79" y="1766800"/>
            <a:ext cx="570128" cy="2988079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74192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53.7%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6460" y="1723998"/>
            <a:ext cx="570128" cy="3030881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0740" y="143139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54.4%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0740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719571"/>
            <a:ext cx="570128" cy="3035308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426963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54.5%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2419" y="1721047"/>
            <a:ext cx="570128" cy="3033832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699" y="1428439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16213E"/>
                </a:solidFill>
                <a:latin typeface="Malgun Gothic"/>
              </a:rPr>
              <a:t>54.5%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6699" y="4846320"/>
            <a:ext cx="661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093208"/>
            <a:ext cx="1097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0">
                <a:solidFill>
                  <a:srgbClr val="777788"/>
                </a:solidFill>
                <a:latin typeface="Malgun Gothic"/>
              </a:rPr>
              <a:t>Epoch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41732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563624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F8A5B"/>
                </a:solidFill>
                <a:latin typeface="Malgun Gothic"/>
              </a:rPr>
              <a:t>54.5%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039112"/>
            <a:ext cx="2414015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Best Val Acc (epoch 29)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7432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889504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1A72A8"/>
                </a:solidFill>
                <a:latin typeface="Malgun Gothic"/>
              </a:rPr>
              <a:t>+17.1%p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364992"/>
            <a:ext cx="2414015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최초 CustomCNN 대비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40690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4215384"/>
            <a:ext cx="2560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200" b="1">
                <a:solidFill>
                  <a:srgbClr val="C76A00"/>
                </a:solidFill>
                <a:latin typeface="Malgun Gothic"/>
              </a:rPr>
              <a:t>-12.5%p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4690872"/>
            <a:ext cx="2414015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777788"/>
                </a:solidFill>
                <a:latin typeface="Malgun Gothic"/>
              </a:rPr>
              <a:t>ResNet18 대비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VI. 한계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ResNet18 점수를 넘지 못한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1. Pretraining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19072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ResNet18은 ImageNet으로 선학습되어 일반 시각 특징을 이미 보유합니다. CustomCNN은 패션 데이터만으로 처음부터 특징을 배웁니다.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23444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2. Teacher 상한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19072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Distillation은 teacher의 분포를 전달하지만, student가 teacher를 안정적으로 초과하려면 더 강한 구조나 추가 데이터 전략이 필요합니다.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18872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18872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23444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3. 데이터 난이도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19072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2010과 2019처럼 인접 시대는 시각적 차이가 작아 hard label만으로도 모호성이 큽니다.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2044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66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4. 발열/시간 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050791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batch=48, workers=1, CUDA memory fraction=0.90으로 안정성을 높인 대신 학습 처리량은 제한되었습니다.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5204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52044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7" y="3566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5. 모델 구조 격차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050791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modern_v4는 개선되었지만 EfficientNet-lite/MBConv 계열의 파라미터 효율에는 아직 도달하지 못했습니다.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6" y="35204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9016" y="3520440"/>
            <a:ext cx="3566160" cy="384048"/>
          </a:xfrm>
          <a:prstGeom prst="rect">
            <a:avLst/>
          </a:prstGeom>
          <a:solidFill>
            <a:srgbClr val="C7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566160"/>
            <a:ext cx="3383279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6. 검증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050791"/>
            <a:ext cx="3273552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900" b="0">
                <a:solidFill>
                  <a:srgbClr val="222233"/>
                </a:solidFill>
                <a:latin typeface="Malgun Gothic"/>
              </a:rPr>
              <a:t>ResNet18 기준선은 67.05%로 기존 문서 기준 44.1%보다 훨씬 높아진 강한 baseline입니다.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00" b="0">
                <a:solidFill>
                  <a:srgbClr val="99BBDD"/>
                </a:solidFill>
                <a:latin typeface="Malgun Gothic"/>
              </a:rPr>
              <a:t>VII. 향후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9875520" cy="4937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algun Gothic"/>
              </a:rPr>
              <a:t>ResNet18 상회를 위한 다음 개선 방향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931920"/>
              </a:tblGrid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구체적 방법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기대 효과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MBConv / EfficientNet-lite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Depthwise Conv + Expansion + SE +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파라미터 대비 표현력 향상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Balanced Sampler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class weight 대신 batch sampling 균형화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loss 폭주 없이 클래스 불균형 완화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Fast Candidate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1~3 epoch 후보 탐색 후 1개만 30 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시간/발열 내에서 효율적 튜닝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TTA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검증/추론 시 horizontal flip 평균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모델 변경 없이 정확도 소폭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 wrap="square" lIns="54864" tIns="36576"/>
                    <a:lstStyle/>
                    <a:p>
                      <a:pPr algn="ctr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Teacher-free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tuned_v4_scratch 별도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tIns="36576"/>
                    <a:lstStyle/>
                    <a:p>
                      <a:pPr algn="l"/>
                      <a:r>
                        <a:rPr sz="900" b="0">
                          <a:solidFill>
                            <a:srgbClr val="222233"/>
                          </a:solidFill>
                          <a:latin typeface="Malgun Gothic"/>
                        </a:rPr>
                        <a:t>distillation 사용 여부에 따른 공정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617720"/>
            <a:ext cx="10789920" cy="914400"/>
          </a:xfrm>
          <a:prstGeom prst="rect">
            <a:avLst/>
          </a:prstGeom>
          <a:solidFill>
            <a:srgbClr val="E8F2FC"/>
          </a:solidFill>
          <a:ln w="12700">
            <a:solidFill>
              <a:srgbClr val="1A7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73752"/>
            <a:ext cx="104241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00" b="1">
                <a:solidFill>
                  <a:srgbClr val="16213E"/>
                </a:solidFill>
                <a:latin typeface="Malgun Gothic"/>
              </a:rPr>
              <a:t>권장 다음 단계: MBConv 기반 CustomCNN v5를 추가하고, 1 epoch quick test로 2~3개 후보를 비교한 뒤 최종 30 epoch 학습을 수행합니다.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algun 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057400"/>
            <a:ext cx="9875520" cy="1005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CustomCNN은 최초 37.4%에서 최종 54.5%로 개선되었으며,
구조 개선 + 정규화 + EMA + distillation이 성능 향상의 핵심 요인입니다.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32688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400" b="0">
                <a:solidFill>
                  <a:srgbClr val="AACCEE"/>
                </a:solidFill>
                <a:latin typeface="Malgun Gothic"/>
              </a:rPr>
              <a:t>단, ResNet18 67.0%에는 아직 12.5%p 부족합니다.
이는 ImageNet 사전학습과 구조 효율성 격차가 여전히 크기 때문입니다.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074920"/>
            <a:ext cx="6675120" cy="45720"/>
          </a:xfrm>
          <a:prstGeom prst="rect">
            <a:avLst/>
          </a:prstGeom>
          <a:solidFill>
            <a:srgbClr val="1A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49240"/>
            <a:ext cx="9601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200" b="0">
                <a:solidFill>
                  <a:srgbClr val="777788"/>
                </a:solidFill>
                <a:latin typeface="Malgun Gothic"/>
              </a:rPr>
              <a:t>다음 목표: MBConv 기반 CustomCNN v5 + 빠른 후보 튜닝으로 ResNet18 상회 도전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